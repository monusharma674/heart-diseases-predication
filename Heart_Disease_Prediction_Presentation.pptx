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F8C752-C599-43E0-AF3E-0C5C76907463}">
  <a:tblStyle styleId="{D8F8C752-C599-43E0-AF3E-0C5C7690746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114821"/>
            <a:ext cx="103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Greater Noida  |  Department of Computer Science &amp;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2715775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B.TECH FINAL YEAR MAJOR PROJECT  ·  BCS753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fmla="val 800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  <a:defRPr sz="2200" b="1">
                <a:solidFill>
                  <a:srgbClr val="002060"/>
                </a:solidFill>
                <a:latin typeface="Arial"/>
              </a:defRPr>
            </a:pPr>
            <a:r>
              <a:t>HEART DISEASE PREDICTION SYSTEM USING MACHINE LEARNING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Project Presentation – I   |   Session 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6094476" y="5257800"/>
            <a:ext cx="0" cy="118872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914400" y="5303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GUIDE NAME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14400" y="55778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 sz="1300" b="1">
                <a:solidFill>
                  <a:srgbClr val="333333"/>
                </a:solidFill>
                <a:latin typeface="Arial"/>
              </a:defRPr>
            </a:pPr>
            <a:r>
              <a:t>[Name of Faculty Guide]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14400" y="59893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  <a:defRPr sz="1100">
                <a:solidFill>
                  <a:srgbClr val="666666"/>
                </a:solidFill>
                <a:latin typeface="Arial"/>
              </a:defRPr>
            </a:pPr>
            <a:r>
              <a:t>Assistant Professor, Department of CSE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766560" y="5303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766560" y="55778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150">
                <a:solidFill>
                  <a:srgbClr val="333333"/>
                </a:solidFill>
                <a:latin typeface="Arial"/>
              </a:defRPr>
            </a:pPr>
            <a:r>
              <a:t>1.  Monu Sharma    —    Roll No. [2301530100xxx]    —    Sec 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150">
                <a:solidFill>
                  <a:srgbClr val="333333"/>
                </a:solidFill>
                <a:latin typeface="Arial"/>
              </a:defRPr>
            </a:pPr>
            <a:r>
              <a:t>2.  [Team Member 2] —   Roll No. [2301530100xxx]    —    Sec B</a:t>
            </a:r>
          </a:p>
          <a:p>
            <a:pPr>
              <a:defRPr sz="1150">
                <a:solidFill>
                  <a:srgbClr val="333333"/>
                </a:solidFill>
                <a:latin typeface="Arial"/>
              </a:defRPr>
            </a:pPr>
            <a:r>
              <a:t>3.  [Team Member 3] —   Roll No. [2301530100xxx]    —    Sec B</a:t>
            </a:r>
          </a:p>
        </p:txBody>
      </p:sp>
      <p:pic>
        <p:nvPicPr>
          <p:cNvPr id="30" name="Google Shape;30;p3" title="LLOYD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563" y="424800"/>
            <a:ext cx="1005835" cy="9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1440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1440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3619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1440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3619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1440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3619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5753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14400" y="35753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536192" y="355701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0936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30936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3115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System Workflow /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0936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30936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93115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30936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30936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3115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6B7593"/>
              </a:buClr>
              <a:buSzPts val="1400"/>
              <a:buFont typeface="Calibri"/>
              <a:buNone/>
              <a:defRPr sz="1300">
                <a:solidFill>
                  <a:srgbClr val="333333"/>
                </a:solidFill>
                <a:latin typeface="Arial"/>
              </a:defRPr>
            </a:pPr>
            <a:r>
              <a:t>Cardiovascular Diseases (CVDs) are the leading global cause of death, taking ~17.9M lives annually (WHO). Early detection is critical yet hindered by existing limitations: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02060"/>
                </a:solidFill>
                <a:latin typeface="Arial"/>
              </a:rPr>
              <a:t>• High Cost &amp; Invasive Procedures: </a:t>
            </a:r>
            <a:r>
              <a:rPr sz="1200">
                <a:solidFill>
                  <a:srgbClr val="444444"/>
                </a:solidFill>
                <a:latin typeface="Arial"/>
              </a:rPr>
              <a:t>Angiography and specialized cardiac tests are expensive and scarce in rural/primary health centers.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02060"/>
                </a:solidFill>
                <a:latin typeface="Arial"/>
              </a:rPr>
              <a:t>• Diagnostic Latency: </a:t>
            </a:r>
            <a:r>
              <a:rPr sz="1200">
                <a:solidFill>
                  <a:srgbClr val="444444"/>
                </a:solidFill>
                <a:latin typeface="Arial"/>
              </a:rPr>
              <a:t>Prolonged turnaround times for laboratory blood profiles delay urgent clinical intervention.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02060"/>
                </a:solidFill>
                <a:latin typeface="Arial"/>
              </a:rPr>
              <a:t>• Physician Diagnostic Fatigue: </a:t>
            </a:r>
            <a:r>
              <a:rPr sz="1200">
                <a:solidFill>
                  <a:srgbClr val="444444"/>
                </a:solidFill>
                <a:latin typeface="Arial"/>
              </a:rPr>
              <a:t>High patient loads increase the risk of overlooking subtle multivariate cardiac indicators.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02060"/>
                </a:solidFill>
                <a:latin typeface="Arial"/>
              </a:rPr>
              <a:t>• Proposed Solution: </a:t>
            </a:r>
            <a:r>
              <a:rPr sz="1200">
                <a:solidFill>
                  <a:srgbClr val="444444"/>
                </a:solidFill>
                <a:latin typeface="Arial"/>
              </a:rPr>
              <a:t>An automated, non-invasive ML system using standardized clinical metrics for instant risk triage.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  <a:defRPr b="1" sz="1300">
                <a:solidFill>
                  <a:srgbClr val="002060"/>
                </a:solidFill>
              </a:defRPr>
            </a:pPr>
            <a:r>
              <a:t>ML Classification Pipeline</a:t>
            </a:r>
            <a:endParaRPr/>
          </a:p>
          <a:p>
            <a:pPr>
              <a:defRPr sz="1100">
                <a:solidFill>
                  <a:srgbClr val="444444"/>
                </a:solidFill>
              </a:defRPr>
            </a:pPr>
            <a:r>
              <a:t>Design and train an automated Supervised ML model (KNN) for accurate binary cardiovascular risk classification (High vs. Low Risk).</a:t>
            </a:r>
          </a:p>
        </p:txBody>
      </p:sp>
      <p:sp>
        <p:nvSpPr>
          <p:cNvPr id="87" name="Google Shape;87;p6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234415" y="1632220"/>
            <a:ext cx="46635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146304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423160" y="2107683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1B1F3B"/>
              </a:buClr>
              <a:buSzPts val="1300"/>
              <a:buFont typeface="Calibri"/>
              <a:buNone/>
              <a:defRPr b="1" sz="1300">
                <a:solidFill>
                  <a:srgbClr val="002060"/>
                </a:solidFill>
              </a:defRPr>
            </a:pPr>
            <a:r>
              <a:t>Data Preprocessing &amp; Scaling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Implement robust StandardScaler normalization and categorical one-hot schema alignment to remove scale bias across medical features.</a:t>
            </a:r>
          </a:p>
        </p:txBody>
      </p:sp>
      <p:sp>
        <p:nvSpPr>
          <p:cNvPr id="94" name="Google Shape;94;p6"/>
          <p:cNvSpPr/>
          <p:nvPr/>
        </p:nvSpPr>
        <p:spPr>
          <a:xfrm>
            <a:off x="6355055" y="1632220"/>
            <a:ext cx="46635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658368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543775" y="2016245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Clr>
                <a:srgbClr val="1B1F3B"/>
              </a:buClr>
              <a:buSzPts val="1300"/>
              <a:buFont typeface="Calibri"/>
              <a:buNone/>
              <a:defRPr b="1" sz="1300">
                <a:solidFill>
                  <a:srgbClr val="002060"/>
                </a:solidFill>
              </a:defRPr>
            </a:pPr>
            <a:r>
              <a:t>Model Optimization &amp;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Tune distance metrics and benchmark performance against multi-hospital cardiac datasets to achieve &gt;86% accuracy and high sensitivity.</a:t>
            </a:r>
          </a:p>
        </p:txBody>
      </p:sp>
      <p:sp>
        <p:nvSpPr>
          <p:cNvPr id="97" name="Google Shape;97;p6"/>
          <p:cNvSpPr/>
          <p:nvPr/>
        </p:nvSpPr>
        <p:spPr>
          <a:xfrm>
            <a:off x="1234440" y="4160520"/>
            <a:ext cx="4663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  <a:defRPr b="1" sz="1300">
                <a:solidFill>
                  <a:srgbClr val="002060"/>
                </a:solidFill>
              </a:defRPr>
            </a:pPr>
            <a:r>
              <a:t>Interactive Web UI Deployment</a:t>
            </a:r>
            <a:endParaRPr/>
          </a:p>
          <a:p>
            <a:pPr>
              <a:defRPr sz="1100">
                <a:solidFill>
                  <a:srgbClr val="444444"/>
                </a:solidFill>
              </a:defRPr>
            </a:pPr>
            <a:r>
              <a:t>Develop an intuitive, low-latency Streamlit web interface with serialized (.pkl) model artifacts for instant clinical decision support.</a:t>
            </a:r>
          </a:p>
        </p:txBody>
      </p:sp>
      <p:sp>
        <p:nvSpPr>
          <p:cNvPr id="98" name="Google Shape;98;p6"/>
          <p:cNvSpPr/>
          <p:nvPr/>
        </p:nvSpPr>
        <p:spPr>
          <a:xfrm>
            <a:off x="146304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42316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355080" y="4160520"/>
            <a:ext cx="4663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58368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54380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34475" y="1543875"/>
            <a:ext cx="9849000" cy="4445400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731520" y="2194560"/>
            <a:ext cx="329184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b="1" sz="1100">
                <a:solidFill>
                  <a:srgbClr val="800000"/>
                </a:solidFill>
              </a:defRPr>
            </a:pPr>
            <a:r>
              <a:t>Programming &amp; Core</a:t>
            </a:r>
          </a:p>
          <a:p>
            <a:pPr>
              <a:spcAft>
                <a:spcPts val="200"/>
              </a:spcAft>
              <a:defRPr b="1" sz="1300">
                <a:solidFill>
                  <a:srgbClr val="002060"/>
                </a:solidFill>
              </a:defRPr>
            </a:pPr>
            <a:r>
              <a:t>Python 3.10+</a:t>
            </a:r>
          </a:p>
          <a:p>
            <a:pPr>
              <a:defRPr sz="950">
                <a:solidFill>
                  <a:srgbClr val="555555"/>
                </a:solidFill>
              </a:defRPr>
            </a:pPr>
            <a:r>
              <a:t>Primary programming language for data manipulation, algorithmic computation, and backend pipeline execution.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389120" y="2194560"/>
            <a:ext cx="329184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b="1" sz="1100">
                <a:solidFill>
                  <a:srgbClr val="800000"/>
                </a:solidFill>
              </a:defRPr>
            </a:pPr>
            <a:r>
              <a:t>Machine Learning</a:t>
            </a:r>
          </a:p>
          <a:p>
            <a:pPr>
              <a:spcAft>
                <a:spcPts val="200"/>
              </a:spcAft>
              <a:defRPr b="1" sz="1300">
                <a:solidFill>
                  <a:srgbClr val="002060"/>
                </a:solidFill>
              </a:defRPr>
            </a:pPr>
            <a:r>
              <a:t>Scikit-Learn, Joblib</a:t>
            </a:r>
          </a:p>
          <a:p>
            <a:pPr>
              <a:defRPr sz="950">
                <a:solidFill>
                  <a:srgbClr val="555555"/>
                </a:solidFill>
              </a:defRPr>
            </a:pPr>
            <a:r>
              <a:t>K-Nearest Neighbors (KNN), StandardScaler normalization, hyperparameter tuning, model serialization (.pkl).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046720" y="2194560"/>
            <a:ext cx="329184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b="1" sz="1100">
                <a:solidFill>
                  <a:srgbClr val="800000"/>
                </a:solidFill>
              </a:defRPr>
            </a:pPr>
            <a:r>
              <a:t>Data Processing</a:t>
            </a:r>
          </a:p>
          <a:p>
            <a:pPr>
              <a:spcAft>
                <a:spcPts val="200"/>
              </a:spcAft>
              <a:defRPr b="1" sz="1300">
                <a:solidFill>
                  <a:srgbClr val="002060"/>
                </a:solidFill>
              </a:defRPr>
            </a:pPr>
            <a:r>
              <a:t>Pandas, NumPy</a:t>
            </a:r>
          </a:p>
          <a:p>
            <a:pPr>
              <a:defRPr sz="950">
                <a:solidFill>
                  <a:srgbClr val="555555"/>
                </a:solidFill>
              </a:defRPr>
            </a:pPr>
            <a:r>
              <a:t>Structured clinical dataset ingestion, one-hot schema reconstruction, multidimensional array operations.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560320" y="4297680"/>
            <a:ext cx="329184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b="1" sz="1100">
                <a:solidFill>
                  <a:srgbClr val="800000"/>
                </a:solidFill>
              </a:defRPr>
            </a:pPr>
            <a:r>
              <a:t>Frontend &amp; Deployment</a:t>
            </a:r>
          </a:p>
          <a:p>
            <a:pPr>
              <a:spcAft>
                <a:spcPts val="200"/>
              </a:spcAft>
              <a:defRPr b="1" sz="1300">
                <a:solidFill>
                  <a:srgbClr val="002060"/>
                </a:solidFill>
              </a:defRPr>
            </a:pPr>
            <a:r>
              <a:t>Streamlit, FastAPI</a:t>
            </a:r>
          </a:p>
          <a:p>
            <a:pPr>
              <a:defRPr sz="950">
                <a:solidFill>
                  <a:srgbClr val="555555"/>
                </a:solidFill>
              </a:defRPr>
            </a:pPr>
            <a:r>
              <a:t>Interactive web dashboard, real-time input sliders, color-coded diagnostic feedback, REST API integration.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217920" y="4297680"/>
            <a:ext cx="329184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b="1" sz="1100">
                <a:solidFill>
                  <a:srgbClr val="800000"/>
                </a:solidFill>
              </a:defRPr>
            </a:pPr>
            <a:r>
              <a:t>Development Tools</a:t>
            </a:r>
          </a:p>
          <a:p>
            <a:pPr>
              <a:spcAft>
                <a:spcPts val="200"/>
              </a:spcAft>
              <a:defRPr b="1" sz="1300">
                <a:solidFill>
                  <a:srgbClr val="002060"/>
                </a:solidFill>
              </a:defRPr>
            </a:pPr>
            <a:r>
              <a:t>VS Code, Git, GitHub</a:t>
            </a:r>
          </a:p>
          <a:p>
            <a:pPr>
              <a:defRPr sz="950">
                <a:solidFill>
                  <a:srgbClr val="555555"/>
                </a:solidFill>
              </a:defRPr>
            </a:pPr>
            <a:r>
              <a:t>Integrated development environment, version control, source code management, team collaboration.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8"/>
          <p:cNvGraphicFramePr/>
          <p:nvPr/>
        </p:nvGraphicFramePr>
        <p:xfrm>
          <a:off x="1234440" y="1600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{D8F8C752-C599-43E0-AF3E-0C5C76907463}</a:tableStyleId>
              </a:tblPr>
              <a:tblGrid>
                <a:gridCol w="731525"/>
                <a:gridCol w="2743200"/>
                <a:gridCol w="2011675"/>
                <a:gridCol w="1737350"/>
                <a:gridCol w="2468875"/>
              </a:tblGrid>
              <a:tr h="80467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Paper Title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Author(s)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Journal / Year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Findings &amp; Contribution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Heart Disease Prediction Using ML Algorithms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R. Sharma &amp; S. Bandil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IEEE (2022)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KNN achieved 86.8% accuracy; emphasized critical impact of feature scaling on Euclidean distance.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Predictive Analytics for Cardiovascular Risk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A. Mohan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IEEE Access (2021)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Demonstrated ST-slope, chest pain type, and max heart rate as highest information-gain clinical features.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Comparative Study of ML Classifiers in CVD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P. Ghosh &amp; D. Azam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Elsevier (2023)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Benchmarked ML classifiers; proved StandardScaler normalization significantly eliminates false negatives.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Decision Support System for Heart Disease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K. Polaraju &amp; D. Durga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Springer (2020)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222"/>
                          </a:solidFill>
                        </a:defRPr>
                      </a:pPr>
                      <a:r>
                        <a:t>Recommended lightweight pipeline serialization (.pkl) for edge clinic deployment.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8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Workflow /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234450" y="1600200"/>
            <a:ext cx="9692700" cy="4585200"/>
          </a:xfrm>
          <a:prstGeom prst="roundRect">
            <a:avLst>
              <a:gd fmla="val 2198" name="adj"/>
            </a:avLst>
          </a:prstGeom>
          <a:solidFill>
            <a:srgbClr val="FFFFFF"/>
          </a:solidFill>
          <a:ln cap="flat" cmpd="sng" w="15875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828800" y="2551422"/>
            <a:ext cx="8503800" cy="24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914400" y="2103120"/>
            <a:ext cx="10332720" cy="731520"/>
          </a:xfrm>
          <a:prstGeom prst="roundRect">
            <a:avLst/>
          </a:prstGeom>
          <a:solidFill>
            <a:srgbClr val="F9FAFC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1. Patient Clinical Input</a:t>
            </a:r>
          </a:p>
          <a:p>
            <a:pPr>
              <a:defRPr sz="1000">
                <a:solidFill>
                  <a:srgbClr val="444444"/>
                </a:solidFill>
              </a:defRPr>
            </a:pPr>
            <a:r>
              <a:t>Age, Sex, Chest Pain (ATA/NAP/TA/ASY), Resting BP, Cholesterol, Fasting BS, Resting ECG, Max HR, Exercise Angina, Oldpeak, ST Slope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14400" y="2971800"/>
            <a:ext cx="10332720" cy="731520"/>
          </a:xfrm>
          <a:prstGeom prst="roundRect">
            <a:avLst/>
          </a:prstGeom>
          <a:solidFill>
            <a:srgbClr val="F9FAFC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2. Data Preprocessing</a:t>
            </a:r>
          </a:p>
          <a:p>
            <a:pPr>
              <a:defRPr sz="1000">
                <a:solidFill>
                  <a:srgbClr val="444444"/>
                </a:solidFill>
              </a:defRPr>
            </a:pPr>
            <a:r>
              <a:t>One-Hot Categorical Alignment + StandardScaler (Z-Score Standardization: zero mean, unit variance)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14400" y="3840480"/>
            <a:ext cx="10332720" cy="731520"/>
          </a:xfrm>
          <a:prstGeom prst="roundRect">
            <a:avLst/>
          </a:prstGeom>
          <a:solidFill>
            <a:srgbClr val="F9FAFC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3. Serialized ML Model</a:t>
            </a:r>
          </a:p>
          <a:p>
            <a:pPr>
              <a:defRPr sz="1000">
                <a:solidFill>
                  <a:srgbClr val="444444"/>
                </a:solidFill>
              </a:defRPr>
            </a:pPr>
            <a:r>
              <a:t>Optimized K-Nearest Neighbors (KNN) inference using pre-trained joblib model artifact ('KNN_heart.pkl')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14400" y="4709159"/>
            <a:ext cx="10332720" cy="731520"/>
          </a:xfrm>
          <a:prstGeom prst="roundRect">
            <a:avLst/>
          </a:prstGeom>
          <a:solidFill>
            <a:srgbClr val="F9FAFC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4. Risk Stratification</a:t>
            </a:r>
          </a:p>
          <a:p>
            <a:pPr>
              <a:defRPr sz="1000">
                <a:solidFill>
                  <a:srgbClr val="444444"/>
                </a:solidFill>
              </a:defRPr>
            </a:pPr>
            <a:r>
              <a:t>Binary Classification: High Risk of CVD (Class 1) vs. Low Risk of CVD (Class 0)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4400" y="5577840"/>
            <a:ext cx="10332720" cy="731520"/>
          </a:xfrm>
          <a:prstGeom prst="roundRect">
            <a:avLst/>
          </a:prstGeom>
          <a:solidFill>
            <a:srgbClr val="F9FAFC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5. Streamlit Web UI</a:t>
            </a:r>
          </a:p>
          <a:p>
            <a:pPr>
              <a:defRPr sz="1000">
                <a:solidFill>
                  <a:srgbClr val="444444"/>
                </a:solidFill>
              </a:defRPr>
            </a:pPr>
            <a:r>
              <a:t>Instant interactive feedback with clinical recommendations and color-coded alert badges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Expected Outcome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249640" y="160019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478240" y="180135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1478240" y="180135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2072600" y="160019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249640" y="256031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478240" y="276147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1478240" y="276147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072600" y="256031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249640" y="352043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478240" y="372159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478240" y="372159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072600" y="352043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249640" y="448055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1478240" y="468171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478240" y="468171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072600" y="448055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Rounded Rectangle 175"/>
          <p:cNvSpPr/>
          <p:nvPr/>
        </p:nvSpPr>
        <p:spPr>
          <a:xfrm>
            <a:off x="914400" y="2286000"/>
            <a:ext cx="484632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6020"/>
                </a:solidFill>
              </a:defRPr>
            </a:pPr>
            <a:r>
              <a:t>✓  High Prediction Accuracy (&gt;86%)</a:t>
            </a:r>
          </a:p>
          <a:p>
            <a:pPr>
              <a:defRPr sz="1050">
                <a:solidFill>
                  <a:srgbClr val="444444"/>
                </a:solidFill>
              </a:defRPr>
            </a:pPr>
            <a:r>
              <a:t>Validated K-Nearest Neighbors predictive classifier delivering accurate risk categorization across diverse patient profiles.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309360" y="2286000"/>
            <a:ext cx="484632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6020"/>
                </a:solidFill>
              </a:defRPr>
            </a:pPr>
            <a:r>
              <a:t>✓  Zero-Latency Real-Time UI</a:t>
            </a:r>
          </a:p>
          <a:p>
            <a:pPr>
              <a:defRPr sz="1050">
                <a:solidFill>
                  <a:srgbClr val="444444"/>
                </a:solidFill>
              </a:defRPr>
            </a:pPr>
            <a:r>
              <a:t>Interactive Streamlit web dashboard with intuitive sliders and selection menus for seamless clinical parameter input.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14400" y="4389120"/>
            <a:ext cx="484632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6020"/>
                </a:solidFill>
              </a:defRPr>
            </a:pPr>
            <a:r>
              <a:t>✓  Robust Pipeline Integrity</a:t>
            </a:r>
          </a:p>
          <a:p>
            <a:pPr>
              <a:defRPr sz="1050">
                <a:solidFill>
                  <a:srgbClr val="444444"/>
                </a:solidFill>
              </a:defRPr>
            </a:pPr>
            <a:r>
              <a:t>Automated preprocessing ensuring flawless one-hot alignment and standardization for any patient input without manual intervention.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09360" y="4389120"/>
            <a:ext cx="4846320" cy="1828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6020"/>
                </a:solidFill>
              </a:defRPr>
            </a:pPr>
            <a:r>
              <a:t>✓  Clinical Decision Support</a:t>
            </a:r>
          </a:p>
          <a:p>
            <a:pPr>
              <a:defRPr sz="1050">
                <a:solidFill>
                  <a:srgbClr val="444444"/>
                </a:solidFill>
              </a:defRPr>
            </a:pPr>
            <a:r>
              <a:t>Provides actionable risk categorization (High Risk vs. Low Risk) to assist physicians in rapid outpatient triage.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249640" y="4563960"/>
            <a:ext cx="9692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rPr i="1" lang="en-US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1" lang="en-US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All references must be cited in IEEE format</a:t>
            </a:r>
            <a:r>
              <a:rPr i="1" lang="en-US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249650" y="1243575"/>
            <a:ext cx="9692700" cy="30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1B1F3B"/>
              </a:buClr>
              <a:buSzPts val="1300"/>
              <a:buFont typeface="Calibri"/>
              <a:buNone/>
              <a:defRPr sz="1100">
                <a:solidFill>
                  <a:srgbClr val="333333"/>
                </a:solidFill>
                <a:latin typeface="Arial"/>
              </a:defRPr>
            </a:pPr>
            <a:r>
              <a:t>[1] R. Sharma and S. Bandil, "Heart Disease Prediction Using Machine Learning Algorithms," IEEE ICCCNT, pp. 1–6, 2022.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[2] A. Mohan, B. S. Raman, and K. S. Babu, "Effective Heart Disease Prediction Using Hybrid Machine Learning Techniques," IEEE Access, vol. 9, pp. 81504–81515, 2021.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[3] P. Ghosh, D. Azam, M. Jonkman, and S. Karim, "Efficient Prediction of Cardiovascular Disease Using ML Classifiers," Elsevier BHI, vol. 84, pp. 104758, 2023.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[4] K. Polaraju and D. Durga, "Prediction of Heart Disease Using Machine Learning: A Decision Support Framework," Springer SN CS, vol. 1, 2020.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[5] World Health Organization (WHO), "Cardiovascular Diseases (CVDs) Factsheet," Geneva: WHO, 2023. [Online].</a:t>
            </a:r>
          </a:p>
        </p:txBody>
      </p:sp>
      <p:sp>
        <p:nvSpPr>
          <p:cNvPr id="189" name="Google Shape;189;p11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2"/>
          <p:cNvCxnSpPr/>
          <p:nvPr/>
        </p:nvCxnSpPr>
        <p:spPr>
          <a:xfrm>
            <a:off x="5271516" y="416052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2"/>
          <p:cNvSpPr/>
          <p:nvPr/>
        </p:nvSpPr>
        <p:spPr>
          <a:xfrm>
            <a:off x="915925" y="4559880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Technology, Greater Noida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